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中央—地方财政转移支付</a:t>
            </a:r>
            <a:endParaRPr lang="en-US" sz="4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效果分析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834640"/>
            <a:ext cx="137160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017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基于多源部委数据的综合定量研究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人工智能与计算思维 · 2026年春季学期大作业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单人完成  |  Python + ECharts  |  Claude Code 协作开发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问题提出：中央转移支付的分配效果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2560320" cy="1005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515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约10万亿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2024年转移支付总额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560320" cy="1005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0" y="10515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约47%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200400" y="1554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占地方财政支出比重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1005840"/>
            <a:ext cx="2560320" cy="1005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0" y="10515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31省 × 7年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943600" y="1554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面板数据规模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核心研究问题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中央转移支付是否有效缩小了地区间财力差距？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哪些省份对中央转移支付的依赖程度最高？背后的经济与财政因素是什么？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转移支付的分配是否与经济发展水平、人口结构等指标匹配？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389120"/>
            <a:ext cx="8229600" cy="237744"/>
          </a:xfrm>
          <a:prstGeom prst="rect">
            <a:avLst/>
          </a:prstGeom>
          <a:solidFill>
            <a:srgbClr val="D5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4389120"/>
            <a:ext cx="81198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AI协作：从8个候选选题中评估匹配度，结合政府管理专业背景推荐转移支付方向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数据来源与分析框架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931920" cy="5029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4416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国家统计局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011680" y="134416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GDP、常住人口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931920" cy="5029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385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财政部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11680" y="193852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财政收入、财政支出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3931920" cy="5029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53288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财政部预算司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11680" y="25328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中央转移支付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54880" y="960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分析框架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46320" y="1371600"/>
            <a:ext cx="320040" cy="32004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371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57800" y="1325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描述性分析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0" y="1325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地区分布 + 时序演变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1874520"/>
            <a:ext cx="320040" cy="32004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18745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5780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分组对比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三类省份 + 统计检验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6320" y="2377440"/>
            <a:ext cx="320040" cy="32004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57800" y="2331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回归分析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0" y="2331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面板FE + 分位数回归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2880360"/>
            <a:ext cx="320040" cy="32004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57800" y="2834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空间计量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2834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Moran's I 空间聚集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480560"/>
            <a:ext cx="8229600" cy="237744"/>
          </a:xfrm>
          <a:prstGeom prst="rect">
            <a:avLst/>
          </a:prstGeom>
          <a:solidFill>
            <a:srgbClr val="D5E8F0"/>
          </a:solidFill>
          <a:ln/>
        </p:spPr>
      </p:sp>
      <p:sp>
        <p:nvSpPr>
          <p:cNvPr id="32" name="Text 30"/>
          <p:cNvSpPr/>
          <p:nvPr/>
        </p:nvSpPr>
        <p:spPr>
          <a:xfrm>
            <a:off x="512064" y="4480560"/>
            <a:ext cx="81198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AI协作：输出指标体系设计 + 四阶段流水线架构（采集→处理→可视化→报告）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3C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0"/>
            <a:ext cx="54864" cy="9144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第一部分：描述性分析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发现一：转移支付依赖度的空间格局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68680"/>
            <a:ext cx="4572000" cy="301752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868680"/>
            <a:ext cx="4297680" cy="3017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4069080"/>
            <a:ext cx="4114800" cy="4114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406908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西藏依赖度 88.0%  vs  上海 9.6%  ·  极差 78.4 个百分点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4754880" y="4069080"/>
            <a:ext cx="4114800" cy="4114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5"/>
          <p:cNvSpPr/>
          <p:nvPr/>
        </p:nvSpPr>
        <p:spPr>
          <a:xfrm>
            <a:off x="4754880" y="406908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整体呈东低西高格局  ·  高依赖省份集中在西部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发现二：全国趋势与依赖度时序演变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22960"/>
            <a:ext cx="4389120" cy="32004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822960"/>
            <a:ext cx="4297680" cy="3200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" y="4206240"/>
            <a:ext cx="4114800" cy="4572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7" name="Text 3"/>
          <p:cNvSpPr/>
          <p:nvPr/>
        </p:nvSpPr>
        <p:spPr>
          <a:xfrm>
            <a:off x="274320" y="42062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全国平均依赖度从37%升至47%，转移支付总额从6万亿增至10万亿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4572000" y="4206240"/>
            <a:ext cx="4297680" cy="4572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0" y="420624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依赖度分布整体右移，中位数上升约10个百分点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C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0"/>
            <a:ext cx="54864" cy="9144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第二部分：分组对比与统计检验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发现三：三类财政自给率省份的关键差异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2697480" cy="28346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60120"/>
            <a:ext cx="2697480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" y="105156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高自给率 ≥60%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32588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75488" y="16459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依赖度: 13.9%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人均转移支付: 3,672元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人均GDP: 170,057元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" y="31089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上海、北京、广东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浙江、江苏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960120"/>
            <a:ext cx="2697480" cy="28346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Shape 9"/>
          <p:cNvSpPr/>
          <p:nvPr/>
        </p:nvSpPr>
        <p:spPr>
          <a:xfrm>
            <a:off x="3246120" y="960120"/>
            <a:ext cx="2697480" cy="54864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3355848" y="105156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中自给率 35-60%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32588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16省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55848" y="16459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依赖度: 44.2%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人均转移支付: 7,729元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人均GDP: 90,195元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55848" y="31089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山东、福建、山西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内蒙古、辽宁等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960120"/>
            <a:ext cx="2697480" cy="28346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6126480" y="960120"/>
            <a:ext cx="269748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6236208" y="105156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低自给率 &lt;35%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36208" y="132588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10省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236208" y="16459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依赖度: 68.0%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人均转移支付: 19,916元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人均GDP: 64,863元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36208" y="31089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西藏、甘肃、青海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宁夏、黑龙江等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低自给率省份人均转移支付是高自给率的5.4倍 → 转移支付向财力薄弱地区倾斜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发现四：转移支付与经济发展水平的关系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22960"/>
            <a:ext cx="91440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846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依赖度与人均GDP强负相关：Pearson r = -0.78，Spearman ρ = -0.81（p &lt; 0.001）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发现五：统计检验 — 显著性验证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00"/>
            <a:ext cx="420624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0" y="1005840"/>
            <a:ext cx="4297680" cy="56692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0" y="1005840"/>
            <a:ext cx="45720" cy="5669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4"/>
          <p:cNvSpPr/>
          <p:nvPr/>
        </p:nvSpPr>
        <p:spPr>
          <a:xfrm>
            <a:off x="4709160" y="10241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依赖度 vs 自给率: r = -0.9749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709160" y="12984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近乎完全负相关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0" y="1664208"/>
            <a:ext cx="4297680" cy="56692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1664208"/>
            <a:ext cx="45720" cy="5669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1" name="Text 8"/>
          <p:cNvSpPr/>
          <p:nvPr/>
        </p:nvSpPr>
        <p:spPr>
          <a:xfrm>
            <a:off x="4709160" y="1682496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依赖度 vs 人均GDP: r = -0.7751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709160" y="1956816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强负相关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0" y="2322576"/>
            <a:ext cx="4297680" cy="56692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1"/>
          <p:cNvSpPr/>
          <p:nvPr/>
        </p:nvSpPr>
        <p:spPr>
          <a:xfrm>
            <a:off x="4572000" y="2322576"/>
            <a:ext cx="45720" cy="5669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2"/>
          <p:cNvSpPr/>
          <p:nvPr/>
        </p:nvSpPr>
        <p:spPr>
          <a:xfrm>
            <a:off x="4709160" y="2340864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ρ = -0.8129, p &lt; 0.001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709160" y="2615184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单调关系极显著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572000" y="2980944"/>
            <a:ext cx="4297680" cy="56692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5"/>
          <p:cNvSpPr/>
          <p:nvPr/>
        </p:nvSpPr>
        <p:spPr>
          <a:xfrm>
            <a:off x="4572000" y="2980944"/>
            <a:ext cx="45720" cy="5669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9" name="Text 16"/>
          <p:cNvSpPr/>
          <p:nvPr/>
        </p:nvSpPr>
        <p:spPr>
          <a:xfrm>
            <a:off x="4709160" y="299923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= 62.10, p &lt; 0.001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709160" y="327355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三类省份差异极显著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572000" y="3639312"/>
            <a:ext cx="4297680" cy="56692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2" name="Shape 19"/>
          <p:cNvSpPr/>
          <p:nvPr/>
        </p:nvSpPr>
        <p:spPr>
          <a:xfrm>
            <a:off x="4572000" y="3639312"/>
            <a:ext cx="45720" cy="5669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0"/>
          <p:cNvSpPr/>
          <p:nvPr/>
        </p:nvSpPr>
        <p:spPr>
          <a:xfrm>
            <a:off x="4709160" y="36576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高/中/低 两两比较 p &lt; 0.001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709160" y="393192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Bonferroni校正全部显著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3C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0"/>
            <a:ext cx="54864" cy="9144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第三部分：回归分析 — 因果识别</a:t>
            </a:r>
            <a:endParaRPr lang="en-US" sz="3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发现六：面板固定效应回归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22960"/>
            <a:ext cx="91440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846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ln(人均GDP)系数显著负向 · ln(人口)系数显著正向 · 控制省份FE和时间FE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发现七：分位数回归 — 异质性分析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22960"/>
            <a:ext cx="91440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846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低依赖分位点：GDP效应更强 · 高依赖分位点：人口效应更显著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C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0"/>
            <a:ext cx="54864" cy="9144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第四部分：空间计量分析</a:t>
            </a:r>
            <a:endParaRPr lang="en-US" sz="3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发现八：空间聚集特征 — Moran's I检验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22960"/>
            <a:ext cx="91440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846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Moran's I = 0.42（p &lt; 0.001）· 高依赖省份呈现空间集群特征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结论与政策启示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914400"/>
            <a:ext cx="411480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六项核心发现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均等化方向正确：低自给率省份人均转移支付是高自给率的5.4倍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89280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地区差距依然严峻：人均GDP京/甘相差4倍，转移支付托底但无法根本改变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236829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整体依赖加深：全国平均依赖度从37%升至47%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2843784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三类划分有效：ANOVA F=62.10，组间差异极显著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33192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面板回归证实：ln(人均GDP)显著负向，经济越发达依赖度越低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37947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空间聚集显著：Moran's I=0.42***，高依赖省份呈现空间集群特征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solidFill>
            <a:srgbClr val="1A3C5E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政策启示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4173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优化转移支付结构：一般性向低自给率倾斜，专项引入绩效竞争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46320" y="19659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推动地方税源建设：培育地方主体税种，增强自主造血能力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5146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建立动态监测体系：面板数据年度跟踪，差异化帮扶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46320" y="30632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考虑空间溢出效应：高依赖集群区域需协同政策支持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6320" y="36118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完善分配公式：纳入人均GDP、人口、公共服务成本差异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46320" y="41605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加强绩效评价：结果与资金分配挂钩，确保资金使用效率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方法论反思：AI辅助开发的实践启示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60120"/>
            <a:ext cx="2560320" cy="1005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3C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80+ 条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累计指令/反馈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960120"/>
            <a:ext cx="2560320" cy="1005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0" y="10058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~1000行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200400" y="1508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Python代码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960120"/>
            <a:ext cx="2560320" cy="1005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0" y="10058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~4小时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943600" y="1508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从0到交付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48840"/>
            <a:ext cx="347472" cy="347472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1488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20574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AI降低技术门槛，人定义问题边界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选题方向、指标体系、结论判断均由人拍板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347472" cy="347472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788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26974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领域知识是不可替代的质量底线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2971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计划单列市跳过规则、决算滞后回退逻辑——人的判断是校准器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429000"/>
            <a:ext cx="347472" cy="347472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4290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33375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迭代优于一次到位，兜底方案至关重要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" y="36118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可视化模块5轮调试：Plotly→geopandas PNG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069080"/>
            <a:ext cx="347472" cy="347472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069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60120" y="39776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计算思维的核心是问题分解与验证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60120" y="4251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分解→协作→验证的循环才是课程核心收获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核心启示：AI降低了技术门槛，但问题定义权、数据理解力、结论判断力——因为AI的存在反而更加重要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中央—地方财政转移支付效果分析</dc:title>
  <dc:subject>PptxGenJS Presentation</dc:subject>
  <dc:creator>辛浩然</dc:creator>
  <cp:lastModifiedBy>辛浩然</cp:lastModifiedBy>
  <cp:revision>1</cp:revision>
  <dcterms:created xsi:type="dcterms:W3CDTF">2026-07-08T07:20:46Z</dcterms:created>
  <dcterms:modified xsi:type="dcterms:W3CDTF">2026-07-08T07:20:46Z</dcterms:modified>
</cp:coreProperties>
</file>